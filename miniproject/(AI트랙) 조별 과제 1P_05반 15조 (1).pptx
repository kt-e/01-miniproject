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6"/>
  </p:notesMasterIdLst>
  <p:handoutMasterIdLst>
    <p:handoutMasterId r:id="rId7"/>
  </p:handoutMasterIdLst>
  <p:sldIdLst>
    <p:sldId id="3622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FF99"/>
    <a:srgbClr val="1F6765"/>
    <a:srgbClr val="E4EFEE"/>
    <a:srgbClr val="F2F2F2"/>
    <a:srgbClr val="FFFFCC"/>
    <a:srgbClr val="E6F2F1"/>
    <a:srgbClr val="AAD7D2"/>
    <a:srgbClr val="D8ECEB"/>
    <a:srgbClr val="F2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7D0D8-25CF-BBCC-73F3-7D42751407A5}" v="9" dt="2026-04-15T00:35:57.642"/>
  </p1510:revLst>
</p1510:revInfo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/>
    <p:restoredTop sz="94618"/>
  </p:normalViewPr>
  <p:slideViewPr>
    <p:cSldViewPr snapToGrid="0">
      <p:cViewPr varScale="1">
        <p:scale>
          <a:sx n="132" d="100"/>
          <a:sy n="132" d="100"/>
        </p:scale>
        <p:origin x="1400" y="17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2026. 4. 16.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‹#›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202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69507" y="94887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 dirty="0"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>
              <a:solidFill>
                <a:srgbClr val="7F7F7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>
                <a:solidFill>
                  <a:srgbClr val="34AEA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Arial"/>
                <a:sym typeface="Arial"/>
              </a:rPr>
              <a:t>KT AIVLE School</a:t>
            </a:r>
            <a:endParaRPr sz="1723">
              <a:solidFill>
                <a:srgbClr val="34AEA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</a:endParaRPr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0" y="706128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F3DB9266-1032-4535-A5FC-D4964A5049A9}"/>
              </a:ext>
            </a:extLst>
          </p:cNvPr>
          <p:cNvSpPr txBox="1">
            <a:spLocks/>
          </p:cNvSpPr>
          <p:nvPr/>
        </p:nvSpPr>
        <p:spPr>
          <a:xfrm>
            <a:off x="57751" y="111656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조별 과제 </a:t>
            </a:r>
            <a:r>
              <a:rPr lang="en-US" altLang="ko-KR" sz="32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1P </a:t>
            </a:r>
            <a:r>
              <a:rPr lang="ko-KR" altLang="en-US" sz="32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정리</a:t>
            </a:r>
          </a:p>
        </p:txBody>
      </p:sp>
      <p:graphicFrame>
        <p:nvGraphicFramePr>
          <p:cNvPr id="4" name="Google Shape;516;g1b5d807d25a_29_172">
            <a:extLst>
              <a:ext uri="{FF2B5EF4-FFF2-40B4-BE49-F238E27FC236}">
                <a16:creationId xmlns:a16="http://schemas.microsoft.com/office/drawing/2014/main" id="{79B0CB51-8791-4048-AEF7-0282A6E78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4821085"/>
              </p:ext>
            </p:extLst>
          </p:nvPr>
        </p:nvGraphicFramePr>
        <p:xfrm>
          <a:off x="127117" y="856648"/>
          <a:ext cx="11937766" cy="573678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732">
                  <a:extLst>
                    <a:ext uri="{9D8B030D-6E8A-4147-A177-3AD203B41FA5}">
                      <a16:colId xmlns:a16="http://schemas.microsoft.com/office/drawing/2014/main" val="1024897284"/>
                    </a:ext>
                  </a:extLst>
                </a:gridCol>
                <a:gridCol w="595419">
                  <a:extLst>
                    <a:ext uri="{9D8B030D-6E8A-4147-A177-3AD203B41FA5}">
                      <a16:colId xmlns:a16="http://schemas.microsoft.com/office/drawing/2014/main" val="1682277675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1109985778"/>
                    </a:ext>
                  </a:extLst>
                </a:gridCol>
                <a:gridCol w="1330073">
                  <a:extLst>
                    <a:ext uri="{9D8B030D-6E8A-4147-A177-3AD203B41FA5}">
                      <a16:colId xmlns:a16="http://schemas.microsoft.com/office/drawing/2014/main" val="3786187223"/>
                    </a:ext>
                  </a:extLst>
                </a:gridCol>
                <a:gridCol w="1717725">
                  <a:extLst>
                    <a:ext uri="{9D8B030D-6E8A-4147-A177-3AD203B41FA5}">
                      <a16:colId xmlns:a16="http://schemas.microsoft.com/office/drawing/2014/main" val="139357874"/>
                    </a:ext>
                  </a:extLst>
                </a:gridCol>
              </a:tblGrid>
              <a:tr h="324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반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</a:t>
                      </a:r>
                      <a:endParaRPr sz="1400" b="1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수도권 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05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반 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15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dirty="0">
                        <a:solidFill>
                          <a:schemeClr val="bg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(B2G)</a:t>
                      </a:r>
                      <a:r>
                        <a:rPr lang="ko-KR" altLang="en-US" sz="11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소방</a:t>
                      </a:r>
                      <a:r>
                        <a:rPr lang="en-US" altLang="ko-KR" sz="11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100" b="1" dirty="0"/>
                        <a:t>재난안전과</a:t>
                      </a:r>
                      <a:r>
                        <a:rPr lang="en-US" altLang="ko-KR" sz="1100" b="1" dirty="0"/>
                        <a:t>/</a:t>
                      </a:r>
                      <a:r>
                        <a:rPr lang="ko-KR" altLang="en-US" sz="1100" b="1" dirty="0"/>
                        <a:t>안전총괄과</a:t>
                      </a:r>
                      <a:endParaRPr lang="ko-KR" altLang="en-US" sz="11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dirty="0">
                        <a:solidFill>
                          <a:schemeClr val="bg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3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조원 성명</a:t>
                      </a:r>
                      <a:r>
                        <a:rPr lang="en-US" altLang="ko-KR" sz="12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2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조장을 맨 앞에</a:t>
                      </a:r>
                      <a:r>
                        <a:rPr lang="en-US" altLang="ko-KR" sz="12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최현준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이채은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오승헌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김다애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김채린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황민서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김경민</a:t>
                      </a:r>
                      <a:endParaRPr lang="en-US" altLang="ko-KR" sz="1100" b="1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100" b="1" u="none" strike="noStrike" cap="none" dirty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100" b="1" u="none" strike="noStrike" cap="none" dirty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과제명</a:t>
                      </a:r>
                      <a:endParaRPr sz="1400" b="1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기반 노후 건축물 화재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이상징후 예측 및 리스크 관리 솔루션</a:t>
                      </a:r>
                      <a:r>
                        <a:rPr lang="ko-KR" altLang="en-US" sz="11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100" b="0" i="0" u="none" strike="noStrike" cap="none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100" b="0" i="0" u="none" strike="noStrike" cap="none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100" b="0" i="0" u="none" strike="noStrike" cap="none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3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주요 서비스 내용</a:t>
                      </a:r>
                      <a:br>
                        <a:rPr lang="ko-KR" altLang="en-US" sz="1400" b="1" u="none" strike="noStrike" cap="none" dirty="0">
                          <a:solidFill>
                            <a:srgbClr val="000000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</a:b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주요 기능</a:t>
                      </a: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, </a:t>
                      </a: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기술 포함</a:t>
                      </a: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서비스</a:t>
                      </a: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en-US" altLang="ko-KR" sz="1100" b="0" i="0" u="none" strike="noStrike" cap="none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rtl="0" fontAlgn="auto">
                        <a:lnSpc>
                          <a:spcPts val="1275"/>
                        </a:lnSpc>
                        <a:buNone/>
                      </a:pPr>
                      <a:b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화재위험도 산출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건축물 노후도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주변 화재 위험시설 밀도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기상 데이터를 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종합 분석하여 </a:t>
                      </a:r>
                      <a:r>
                        <a:rPr lang="ko-KR" altLang="en-US" sz="1100" b="1" i="0" u="sng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건물별 화재 발생 위험도 수치화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제공</a:t>
                      </a:r>
                      <a:endParaRPr lang="en-US" altLang="ko-KR" sz="1100" b="0" i="0" u="none" strike="noStrike" cap="none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rtl="0" fontAlgn="auto">
                        <a:lnSpc>
                          <a:spcPts val="1275"/>
                        </a:lnSpc>
                        <a:buNone/>
                      </a:pPr>
                      <a:endParaRPr lang="en-US" altLang="ko-KR" sz="1100" b="0" i="0" u="none" strike="noStrike" cap="none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rtl="0" fontAlgn="auto">
                        <a:lnSpc>
                          <a:spcPts val="1275"/>
                        </a:lnSpc>
                        <a:buNone/>
                      </a:pP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지도형 관제 지원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소방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재난안전 부서에 위험 건축물 현황과 </a:t>
                      </a:r>
                      <a:r>
                        <a:rPr lang="ko-KR" altLang="en-US" sz="1100" b="1" i="0" u="sng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우선 대응 대상을 지도형 대시보드로 제공</a:t>
                      </a:r>
                      <a:r>
                        <a:rPr lang="ko-KR" altLang="en-US" sz="1100" b="0" i="0" u="sng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0" i="0" u="sng" strike="noStrike" cap="none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rtl="0" fontAlgn="auto">
                        <a:lnSpc>
                          <a:spcPts val="1275"/>
                        </a:lnSpc>
                        <a:buNone/>
                      </a:pPr>
                      <a:endParaRPr lang="en-US" altLang="ko-KR" sz="1100" b="0" i="0" u="none" strike="noStrike" cap="none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altLang="ko-KR" sz="11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3.</a:t>
                      </a:r>
                      <a:r>
                        <a:rPr lang="ko-KR" altLang="en-US" sz="11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 </a:t>
                      </a:r>
                      <a:r>
                        <a:rPr lang="ko-KR" altLang="en-US" sz="11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실시간 모니터링</a:t>
                      </a:r>
                      <a:r>
                        <a:rPr lang="ko-KR" altLang="en-US" sz="11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 </a:t>
                      </a:r>
                      <a:r>
                        <a:rPr lang="ko-KR" altLang="en-US" sz="1100" b="1" i="0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 </a:t>
                      </a:r>
                      <a:r>
                        <a:rPr lang="en-US" altLang="ko-KR" sz="11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:</a:t>
                      </a:r>
                      <a:r>
                        <a:rPr lang="ko-KR" altLang="en-US" sz="11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 스마트 미터기 </a:t>
                      </a:r>
                      <a:r>
                        <a:rPr lang="en-US" altLang="ko-KR" sz="11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API</a:t>
                      </a:r>
                      <a:r>
                        <a:rPr lang="ko-KR" altLang="en-US" sz="11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를</a:t>
                      </a:r>
                      <a:r>
                        <a:rPr lang="ko-KR" altLang="en-US" sz="11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 활용해 이상 전력 </a:t>
                      </a:r>
                      <a:r>
                        <a:rPr lang="ko-KR" altLang="en-US" sz="1100" b="1" i="0" u="sng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실시간 모니터링 대시보드 제공 </a:t>
                      </a:r>
                      <a:endParaRPr lang="en-US" altLang="ko-KR" sz="1100" b="1" i="0" u="sng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기술</a:t>
                      </a: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US" altLang="ko-KR" sz="1100" b="1" i="0" u="none" strike="noStrike" cap="none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위험도 분석 모델</a:t>
                      </a: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건물 상태와 주변 데이터를 종합해 위험도를 최소화</a:t>
                      </a:r>
                      <a:b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지도 기반 시각화</a:t>
                      </a: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위험 건축물 위치와 상태를 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GIS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기반 화면에 팝업 </a:t>
                      </a:r>
                      <a:r>
                        <a:rPr lang="ko-KR" altLang="en-US" sz="1100" b="0" i="0" u="none" strike="noStrike" cap="none" noProof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모달로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매핑</a:t>
                      </a:r>
                      <a:b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및 리포트 자동화</a:t>
                      </a:r>
                      <a:r>
                        <a:rPr lang="en-US" altLang="ko-KR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100" b="1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발생 시 알림</a:t>
                      </a:r>
                      <a:r>
                        <a:rPr lang="en-US" altLang="ko-KR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0" i="0" u="none" strike="noStrike" cap="none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결과를 자동으로 정리 및 보고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ko-KR" altLang="en-US" sz="1100" b="0" i="0" u="none" strike="noStrike" cap="none" noProof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52572"/>
                  </a:ext>
                </a:extLst>
              </a:tr>
              <a:tr h="40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목표 고객</a:t>
                      </a:r>
                      <a:r>
                        <a:rPr lang="en-US" altLang="ko-KR" sz="11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(B2B.B2G </a:t>
                      </a:r>
                      <a:r>
                        <a:rPr lang="ko-KR" altLang="en-US" sz="11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대상</a:t>
                      </a:r>
                      <a:r>
                        <a:rPr lang="en-US" altLang="ko-KR" sz="11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(B2G)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기초지자체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도시재생과 및 건축과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(B2G)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한국토지주택공사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지방 도시공사</a:t>
                      </a:r>
                      <a:r>
                        <a:rPr lang="ko-KR" altLang="en-US" sz="11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10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100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100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8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과제 선정 배경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빈집 증가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충청권 약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1.3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만 호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전국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22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만 호 이상의 빈집이 누적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특히 </a:t>
                      </a:r>
                      <a:r>
                        <a:rPr lang="ko-KR" altLang="en-US" sz="1100" b="1" u="sng" dirty="0" err="1">
                          <a:latin typeface="+mn-ea"/>
                          <a:ea typeface="+mn-ea"/>
                        </a:rPr>
                        <a:t>지방권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 중심으로 문제가 확산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사회적 위험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노후 건축물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은 화재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붕괴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범죄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도시 미관 저해 등 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복합 위험 요인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으로 작용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행정 한계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지자체 인력과 관리 체계가 한정돼 충청권을 포함한 </a:t>
                      </a:r>
                      <a:r>
                        <a:rPr lang="ko-KR" altLang="en-US" sz="1100" dirty="0" err="1">
                          <a:latin typeface="+mn-ea"/>
                          <a:ea typeface="+mn-ea"/>
                        </a:rPr>
                        <a:t>지방권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전반에서 선제 대응에 한계 존재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과제 필요성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latin typeface="+mn-ea"/>
                          <a:ea typeface="+mn-ea"/>
                        </a:rPr>
                        <a:t>지방권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빈집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노후 건축물을 </a:t>
                      </a:r>
                      <a:r>
                        <a:rPr lang="en-US" altLang="ko-KR" sz="1100" b="1" u="sng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기반으로 우선 선별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하고 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조기 관제하는 체계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구축 필요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ko-KR" sz="1100" b="0" i="0" u="none" strike="noStrike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1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3600" b="1" u="none" dirty="0">
                        <a:latin typeface="+mn-ea"/>
                        <a:ea typeface="+mn-ea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sng" dirty="0"/>
                        <a:t>공공기관의 선제 대응을 지원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7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활용 데이터</a:t>
                      </a: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선택</a:t>
                      </a: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국토교통부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_</a:t>
                      </a: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건축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HUB_</a:t>
                      </a:r>
                      <a:r>
                        <a:rPr lang="ko-KR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건축물대장정보</a:t>
                      </a: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공공데이터포털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&gt;</a:t>
                      </a:r>
                      <a:br>
                        <a:rPr lang="en-US" altLang="ko-KR" sz="11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</a:b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국토교통부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_</a:t>
                      </a: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토지소유현황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공공데이터포털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&gt;</a:t>
                      </a:r>
                      <a:br>
                        <a:rPr lang="en-US" altLang="ko-KR" sz="1100" b="0" i="0" u="none" strike="sng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</a:b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더블체크 산업분류별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_</a:t>
                      </a:r>
                      <a:r>
                        <a:rPr lang="ko-KR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전력사용량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전력데이터개방포털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&gt;</a:t>
                      </a:r>
                      <a:endParaRPr lang="ko-KR" altLang="en-US" sz="1100" strike="noStrike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100" strike="noStrike" dirty="0">
                          <a:highlight>
                            <a:srgbClr val="FFFFFF"/>
                          </a:highlight>
                        </a:rPr>
                        <a:t>&gt;&gt;</a:t>
                      </a:r>
                      <a:r>
                        <a:rPr lang="ko-KR" altLang="en-US" sz="1100" strike="noStrike" dirty="0">
                          <a:highlight>
                            <a:srgbClr val="FFFFFF"/>
                          </a:highlight>
                        </a:rPr>
                        <a:t> 노후도</a:t>
                      </a:r>
                      <a:r>
                        <a:rPr lang="en-US" altLang="ko-KR" sz="1100" strike="noStrike" dirty="0">
                          <a:highlight>
                            <a:srgbClr val="FFFFFF"/>
                          </a:highlight>
                        </a:rPr>
                        <a:t>/</a:t>
                      </a:r>
                      <a:r>
                        <a:rPr lang="ko-KR" altLang="en-US" sz="1100" strike="noStrike" dirty="0">
                          <a:highlight>
                            <a:srgbClr val="FFFFFF"/>
                          </a:highlight>
                        </a:rPr>
                        <a:t>구조</a:t>
                      </a:r>
                      <a:r>
                        <a:rPr lang="en-US" altLang="ko-KR" sz="1100" strike="noStrike" dirty="0">
                          <a:highlight>
                            <a:srgbClr val="FFFFFF"/>
                          </a:highlight>
                        </a:rPr>
                        <a:t>/</a:t>
                      </a:r>
                      <a:r>
                        <a:rPr lang="ko-KR" altLang="en-US" sz="1100" strike="noStrike" dirty="0">
                          <a:highlight>
                            <a:srgbClr val="FFFFFF"/>
                          </a:highlight>
                        </a:rPr>
                        <a:t>용도 기반 </a:t>
                      </a:r>
                      <a:r>
                        <a:rPr lang="ko-KR" altLang="en-US" sz="1100" b="1" strike="noStrike" dirty="0">
                          <a:highlight>
                            <a:srgbClr val="FFFFFF"/>
                          </a:highlight>
                        </a:rPr>
                        <a:t>위험도 산출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ea typeface="+mn-ea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&gt;&gt;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 </a:t>
                      </a:r>
                      <a:r>
                        <a:rPr lang="ko-KR" altLang="en-US" sz="1100" b="1" strike="noStrike" dirty="0">
                          <a:highlight>
                            <a:srgbClr val="FFFFFF"/>
                          </a:highlight>
                        </a:rPr>
                        <a:t>소유 구조 분석 </a:t>
                      </a:r>
                      <a:r>
                        <a:rPr lang="ko-KR" altLang="en-US" sz="1100" strike="noStrike" dirty="0">
                          <a:highlight>
                            <a:srgbClr val="FFFFFF"/>
                          </a:highlight>
                        </a:rPr>
                        <a:t>및 공공 매입</a:t>
                      </a:r>
                      <a:r>
                        <a:rPr lang="en-US" altLang="ko-KR" sz="1100" strike="noStrike" dirty="0">
                          <a:highlight>
                            <a:srgbClr val="FFFFFF"/>
                          </a:highlight>
                        </a:rPr>
                        <a:t>/</a:t>
                      </a:r>
                      <a:r>
                        <a:rPr lang="ko-KR" altLang="en-US" sz="1100" strike="noStrike" dirty="0">
                          <a:highlight>
                            <a:srgbClr val="FFFFFF"/>
                          </a:highlight>
                        </a:rPr>
                        <a:t>정비 가능성 판단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ea typeface="+mn-ea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&gt;&gt;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ea typeface="나눔스퀘어 Bold" panose="020B0600000101010101" pitchFamily="34" charset="-127"/>
                        </a:rPr>
                        <a:t>  </a:t>
                      </a:r>
                      <a:r>
                        <a:rPr lang="ko-KR" altLang="en-US" sz="1100" strike="noStrike" dirty="0">
                          <a:highlight>
                            <a:srgbClr val="FFFFFF"/>
                          </a:highlight>
                        </a:rPr>
                        <a:t>공실</a:t>
                      </a:r>
                      <a:r>
                        <a:rPr lang="en-US" altLang="ko-KR" sz="1100" strike="noStrike" dirty="0">
                          <a:highlight>
                            <a:srgbClr val="FFFFFF"/>
                          </a:highlight>
                        </a:rPr>
                        <a:t>·</a:t>
                      </a:r>
                      <a:r>
                        <a:rPr lang="ko-KR" altLang="en-US" sz="1100" strike="noStrike" dirty="0">
                          <a:highlight>
                            <a:srgbClr val="FFFFFF"/>
                          </a:highlight>
                        </a:rPr>
                        <a:t>이상 </a:t>
                      </a:r>
                      <a:r>
                        <a:rPr lang="ko-KR" altLang="en-US" sz="1100" b="1" strike="noStrike" dirty="0">
                          <a:highlight>
                            <a:srgbClr val="FFFFFF"/>
                          </a:highlight>
                        </a:rPr>
                        <a:t>사용 패턴 탐지 보조 지표</a:t>
                      </a:r>
                      <a:endParaRPr lang="ko-KR" altLang="en-US" sz="1100" b="1" strike="noStrike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100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100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559410"/>
                  </a:ext>
                </a:extLst>
              </a:tr>
              <a:tr h="1271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기대 효과</a:t>
                      </a: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선택</a:t>
                      </a: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행정 지원</a:t>
                      </a:r>
                      <a:r>
                        <a:rPr lang="en-US" altLang="ko-KR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고위험 건축물 </a:t>
                      </a:r>
                      <a:r>
                        <a:rPr lang="en-US" altLang="ko-KR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20~30%</a:t>
                      </a:r>
                      <a:r>
                        <a:rPr lang="ko-KR" altLang="en-US" sz="1100" b="1" u="sng" dirty="0" err="1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를</a:t>
                      </a:r>
                      <a:r>
                        <a:rPr lang="ko-KR" altLang="en-US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우선 선별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해 점검</a:t>
                      </a:r>
                      <a:r>
                        <a:rPr lang="en-US" altLang="ko-KR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정비 우선순위 설정 지원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점검 효율화</a:t>
                      </a:r>
                      <a:r>
                        <a:rPr lang="en-US" altLang="ko-KR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초기 현장 점검 물량 </a:t>
                      </a:r>
                      <a:r>
                        <a:rPr lang="en-US" altLang="ko-KR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30~50% </a:t>
                      </a:r>
                      <a:r>
                        <a:rPr lang="ko-KR" altLang="en-US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절감으로 인력 운영</a:t>
                      </a:r>
                      <a:r>
                        <a:rPr lang="ko-KR" altLang="en-US" sz="1100" b="0" u="none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효율 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향상</a:t>
                      </a:r>
                      <a:endParaRPr lang="en-US" altLang="ko-KR" sz="1100" dirty="0">
                        <a:highlight>
                          <a:srgbClr val="FFFFFF"/>
                        </a:highlight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인력 최적화</a:t>
                      </a:r>
                      <a:r>
                        <a:rPr lang="en-US" altLang="ko-KR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정비</a:t>
                      </a:r>
                      <a:r>
                        <a:rPr lang="en-US" altLang="ko-KR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순찰 인력 </a:t>
                      </a:r>
                      <a:r>
                        <a:rPr lang="en-US" altLang="ko-KR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70% 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이상을 </a:t>
                      </a:r>
                      <a:r>
                        <a:rPr lang="ko-KR" altLang="en-US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고위험군 중심으로 집중 배치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의사결정 지원</a:t>
                      </a:r>
                      <a:r>
                        <a:rPr lang="en-US" altLang="ko-KR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점검</a:t>
                      </a:r>
                      <a:r>
                        <a:rPr lang="en-US" altLang="ko-KR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정비 계획 수립 시간 </a:t>
                      </a:r>
                      <a:r>
                        <a:rPr lang="en-US" altLang="ko-KR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50% </a:t>
                      </a:r>
                      <a:r>
                        <a:rPr lang="ko-KR" altLang="en-US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이상 단축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예방 체계 전환</a:t>
                      </a:r>
                      <a:r>
                        <a:rPr lang="en-US" altLang="ko-KR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시간 상시 감시 기반의 </a:t>
                      </a:r>
                      <a:r>
                        <a:rPr lang="ko-KR" altLang="en-US" sz="1100" b="1" u="sng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선제 대응 관리 체계 구축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정책 활용</a:t>
                      </a:r>
                      <a:r>
                        <a:rPr lang="en-US" altLang="ko-KR" sz="1100" b="1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 월 </a:t>
                      </a:r>
                      <a:r>
                        <a:rPr lang="en-US" altLang="ko-KR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회 이상 우선순위 </a:t>
                      </a:r>
                      <a:r>
                        <a:rPr lang="ko-KR" altLang="en-US" sz="1100" b="1" u="sng" strike="noStrike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리포트 자동생성</a:t>
                      </a:r>
                      <a:r>
                        <a:rPr lang="en-US" altLang="ko-KR" sz="1100" b="1" u="sng" strike="noStrike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u="sng" strike="noStrike" dirty="0">
                          <a:highlight>
                            <a:srgbClr val="FFFFFF"/>
                          </a:highlight>
                          <a:latin typeface="+mn-ea"/>
                          <a:ea typeface="+mn-ea"/>
                        </a:rPr>
                        <a:t>정책판단 근거 제공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100" dirty="0">
                        <a:highlight>
                          <a:srgbClr val="FFFFFF"/>
                        </a:highlight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80800"/>
                  </a:ext>
                </a:extLst>
              </a:tr>
            </a:tbl>
          </a:graphicData>
        </a:graphic>
      </p:graphicFrame>
      <p:sp>
        <p:nvSpPr>
          <p:cNvPr id="2" name="오른쪽 화살표[R] 1">
            <a:extLst>
              <a:ext uri="{FF2B5EF4-FFF2-40B4-BE49-F238E27FC236}">
                <a16:creationId xmlns:a16="http://schemas.microsoft.com/office/drawing/2014/main" id="{6C4539EB-D369-0221-5372-61CE528DF9E1}"/>
              </a:ext>
            </a:extLst>
          </p:cNvPr>
          <p:cNvSpPr/>
          <p:nvPr/>
        </p:nvSpPr>
        <p:spPr>
          <a:xfrm>
            <a:off x="9134376" y="4254365"/>
            <a:ext cx="981777" cy="202131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492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CED1AF9502234C84581534E01698CE" ma:contentTypeVersion="3" ma:contentTypeDescription="새 문서를 만듭니다." ma:contentTypeScope="" ma:versionID="3e13402bd922fe34ff7677476ab8df3f">
  <xsd:schema xmlns:xsd="http://www.w3.org/2001/XMLSchema" xmlns:xs="http://www.w3.org/2001/XMLSchema" xmlns:p="http://schemas.microsoft.com/office/2006/metadata/properties" xmlns:ns2="b1fcad12-f7a2-4725-9411-13a115b9e6b6" targetNamespace="http://schemas.microsoft.com/office/2006/metadata/properties" ma:root="true" ma:fieldsID="400ccfad6cf941ba0a19d304b256df82" ns2:_="">
    <xsd:import namespace="b1fcad12-f7a2-4725-9411-13a115b9e6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cad12-f7a2-4725-9411-13a115b9e6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0DEE58-DA0F-4313-8EAF-511A4842C4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fcad12-f7a2-4725-9411-13a115b9e6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74F5F0-E47C-4CD4-9BF1-D80ACD90DC05}">
  <ds:schemaRefs>
    <ds:schemaRef ds:uri="83fa82f3-e9ff-4381-8a02-09a0217706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436</Words>
  <Application>Microsoft Macintosh PowerPoint</Application>
  <PresentationFormat>와이드스크린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나눔스퀘어 네오 Heavy</vt:lpstr>
      <vt:lpstr>나눔스퀘어 Bold</vt:lpstr>
      <vt:lpstr>나눔스퀘어 ExtraBold</vt:lpstr>
      <vt:lpstr>Malgun Gothic</vt:lpstr>
      <vt:lpstr>Malgun Gothic</vt:lpstr>
      <vt:lpstr>Noto Sans Symbols</vt:lpstr>
      <vt:lpstr>Arial</vt:lpstr>
      <vt:lpstr>Calibri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최현준</cp:lastModifiedBy>
  <cp:revision>24</cp:revision>
  <dcterms:modified xsi:type="dcterms:W3CDTF">2026-04-16T06:48:59Z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0x01010000CED1AF9502234C84581534E01698CE</vt:lpwstr>
  </property>
  <property fmtid="{D5CDD505-2E9C-101B-9397-08002B2CF9AE}" pid="10" name="MediaServiceImageTags">
    <vt:lpwstr/>
  </property>
  <property fmtid="{D5CDD505-2E9C-101B-9397-08002B2CF9AE}" pid="11" name="Order">
    <vt:r8>600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